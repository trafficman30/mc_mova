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4.xml" ContentType="application/vnd.openxmlformats-officedocument.customXml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5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4" r:id="rId4"/>
    <p:sldId id="258" r:id="rId5"/>
    <p:sldId id="259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0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5.xml"/><Relationship Id="rId2" Type="http://schemas.openxmlformats.org/officeDocument/2006/relationships/slide" Target="slides/slide1.xml"/><Relationship Id="rId16" Type="http://schemas.openxmlformats.org/officeDocument/2006/relationships/customXml" Target="../customXml/item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752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iabdelhalim\Desktop\TRL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00" y="96261"/>
            <a:ext cx="710201" cy="34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2514599" y="12528"/>
            <a:ext cx="3581401" cy="444672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sp>
        <p:nvSpPr>
          <p:cNvPr id="2" name="Rectangle 1"/>
          <p:cNvSpPr/>
          <p:nvPr/>
        </p:nvSpPr>
        <p:spPr>
          <a:xfrm>
            <a:off x="5666003" y="87742"/>
            <a:ext cx="381000" cy="3048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/>
          <p:cNvCxnSpPr/>
          <p:nvPr/>
        </p:nvCxnSpPr>
        <p:spPr>
          <a:xfrm>
            <a:off x="5666003" y="193958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>
            <a:off x="5679863" y="290942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1752600" y="457200"/>
            <a:ext cx="76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4173094" y="472307"/>
            <a:ext cx="1922905" cy="1895183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4610408" y="533400"/>
            <a:ext cx="10464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chemeClr val="bg1"/>
                </a:solidFill>
              </a:rPr>
              <a:t>Online data</a:t>
            </a:r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1752600" y="841177"/>
            <a:ext cx="4343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>
            <a:off x="1759346" y="1219200"/>
            <a:ext cx="4343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>
            <a:off x="1759346" y="1600200"/>
            <a:ext cx="4343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>
            <a:off x="4173094" y="1981200"/>
            <a:ext cx="19296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71896" y="855851"/>
            <a:ext cx="619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chemeClr val="bg1"/>
                </a:solidFill>
              </a:rPr>
              <a:t>Errors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70725" y="1246243"/>
            <a:ext cx="1277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chemeClr val="bg1"/>
                </a:solidFill>
              </a:rPr>
              <a:t>Active Data set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57753" y="1645715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chemeClr val="bg1"/>
                </a:solidFill>
              </a:rPr>
              <a:t>TMA Logs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572000" y="2004297"/>
            <a:ext cx="1123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 smtClean="0">
                <a:solidFill>
                  <a:schemeClr val="bg1"/>
                </a:solidFill>
              </a:rPr>
              <a:t>SatFlow</a:t>
            </a:r>
            <a:r>
              <a:rPr lang="en-GB" sz="1400" dirty="0" smtClean="0">
                <a:solidFill>
                  <a:schemeClr val="bg1"/>
                </a:solidFill>
              </a:rPr>
              <a:t> Logs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775868" y="6331328"/>
            <a:ext cx="20938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MOVA Time</a:t>
            </a:r>
            <a:r>
              <a:rPr lang="en-US" sz="1000" dirty="0" smtClean="0"/>
              <a:t>: </a:t>
            </a:r>
            <a:r>
              <a:rPr lang="en-US" sz="1000" dirty="0" smtClean="0">
                <a:solidFill>
                  <a:srgbClr val="FF0000"/>
                </a:solidFill>
              </a:rPr>
              <a:t>18:09:15    12/04/2016</a:t>
            </a:r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4431148" y="6322091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Kernel Version</a:t>
            </a:r>
            <a:r>
              <a:rPr lang="en-US" sz="1000" dirty="0" smtClean="0"/>
              <a:t>: M8.0.0.166</a:t>
            </a:r>
            <a:endParaRPr lang="en-GB" sz="1000" dirty="0"/>
          </a:p>
        </p:txBody>
      </p:sp>
      <p:sp>
        <p:nvSpPr>
          <p:cNvPr id="69" name="Rectangular Callout 68"/>
          <p:cNvSpPr/>
          <p:nvPr/>
        </p:nvSpPr>
        <p:spPr>
          <a:xfrm>
            <a:off x="6858000" y="1219200"/>
            <a:ext cx="2057400" cy="1523999"/>
          </a:xfrm>
          <a:prstGeom prst="wedgeRectCallout">
            <a:avLst>
              <a:gd name="adj1" fmla="val -86595"/>
              <a:gd name="adj2" fmla="val 9578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Responsive design that should adapt based on the screen size.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050" dirty="0" smtClean="0">
                <a:solidFill>
                  <a:schemeClr val="tx1"/>
                </a:solidFill>
              </a:rPr>
              <a:t>Generally, the layout should appear in a good order in: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smtClean="0">
                <a:solidFill>
                  <a:schemeClr val="tx1"/>
                </a:solidFill>
              </a:rPr>
              <a:t>Desktop’s browsers;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smtClean="0">
                <a:solidFill>
                  <a:schemeClr val="tx1"/>
                </a:solidFill>
              </a:rPr>
              <a:t>Smart phone’s browsers;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smtClean="0">
                <a:solidFill>
                  <a:schemeClr val="tx1"/>
                </a:solidFill>
              </a:rPr>
              <a:t>Tablet’s browsers.</a:t>
            </a:r>
          </a:p>
          <a:p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67" name="Rectangular Callout 166"/>
          <p:cNvSpPr/>
          <p:nvPr/>
        </p:nvSpPr>
        <p:spPr>
          <a:xfrm>
            <a:off x="279577" y="4858327"/>
            <a:ext cx="2057400" cy="1029854"/>
          </a:xfrm>
          <a:prstGeom prst="wedgeRectCallout">
            <a:avLst>
              <a:gd name="adj1" fmla="val 68287"/>
              <a:gd name="adj2" fmla="val 9937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The date/time to be read from the kernel initially (when loading the page), and then incremented on the client side (JavaScript).</a:t>
            </a:r>
          </a:p>
          <a:p>
            <a:endParaRPr lang="en-GB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93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752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14236" y="4122963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MOVA enabled</a:t>
            </a:r>
            <a:endParaRPr lang="en-GB" sz="1100" b="1" dirty="0"/>
          </a:p>
        </p:txBody>
      </p:sp>
      <p:sp>
        <p:nvSpPr>
          <p:cNvPr id="9" name="Flowchart: Alternate Process 8"/>
          <p:cNvSpPr/>
          <p:nvPr/>
        </p:nvSpPr>
        <p:spPr>
          <a:xfrm>
            <a:off x="2975363" y="4171453"/>
            <a:ext cx="510309" cy="16462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3235280" y="4178918"/>
            <a:ext cx="228600" cy="152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2938419" y="4122963"/>
            <a:ext cx="451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21020" y="4124036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On-control</a:t>
            </a:r>
            <a:endParaRPr lang="en-GB" sz="1100" b="1" dirty="0"/>
          </a:p>
        </p:txBody>
      </p:sp>
      <p:sp>
        <p:nvSpPr>
          <p:cNvPr id="14" name="Flowchart: Alternate Process 13"/>
          <p:cNvSpPr/>
          <p:nvPr/>
        </p:nvSpPr>
        <p:spPr>
          <a:xfrm>
            <a:off x="5000300" y="4163290"/>
            <a:ext cx="510309" cy="16462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5260217" y="4170755"/>
            <a:ext cx="228600" cy="152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4972592" y="4114800"/>
            <a:ext cx="451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30686" y="4419600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Error count</a:t>
            </a:r>
            <a:endParaRPr lang="en-GB" sz="1100" b="1" dirty="0"/>
          </a:p>
        </p:txBody>
      </p:sp>
      <p:sp>
        <p:nvSpPr>
          <p:cNvPr id="12" name="Rectangle 11"/>
          <p:cNvSpPr/>
          <p:nvPr/>
        </p:nvSpPr>
        <p:spPr>
          <a:xfrm>
            <a:off x="2973337" y="4458172"/>
            <a:ext cx="311591" cy="184727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smtClean="0">
                <a:solidFill>
                  <a:schemeClr val="tx1"/>
                </a:solidFill>
              </a:rPr>
              <a:t>2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48728" y="4419734"/>
            <a:ext cx="697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Warmup</a:t>
            </a:r>
            <a:endParaRPr lang="en-GB" sz="1100" b="1" dirty="0"/>
          </a:p>
        </p:txBody>
      </p:sp>
      <p:sp>
        <p:nvSpPr>
          <p:cNvPr id="20" name="Rectangle 19"/>
          <p:cNvSpPr/>
          <p:nvPr/>
        </p:nvSpPr>
        <p:spPr>
          <a:xfrm>
            <a:off x="5012897" y="4458306"/>
            <a:ext cx="311591" cy="184727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smtClean="0">
                <a:solidFill>
                  <a:schemeClr val="tx1"/>
                </a:solidFill>
              </a:rPr>
              <a:t>3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752365" y="738911"/>
            <a:ext cx="0" cy="5128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491293" y="737270"/>
            <a:ext cx="0" cy="5128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391892" y="728033"/>
            <a:ext cx="0" cy="5128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989944" y="737270"/>
            <a:ext cx="0" cy="5128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97181" y="3389982"/>
            <a:ext cx="11400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Force bits status</a:t>
            </a:r>
            <a:endParaRPr lang="en-GB" sz="1100" b="1" dirty="0"/>
          </a:p>
        </p:txBody>
      </p:sp>
      <p:sp>
        <p:nvSpPr>
          <p:cNvPr id="25" name="Rectangle 24"/>
          <p:cNvSpPr/>
          <p:nvPr/>
        </p:nvSpPr>
        <p:spPr>
          <a:xfrm>
            <a:off x="1981200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257368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530693" y="3617300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3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96254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25039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501207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74532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040093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463592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739760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013085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HI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278646" y="3617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TO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85445" y="2355509"/>
            <a:ext cx="12923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Confirm bits status</a:t>
            </a:r>
            <a:endParaRPr lang="en-GB" sz="1100" b="1" dirty="0"/>
          </a:p>
        </p:txBody>
      </p:sp>
      <p:sp>
        <p:nvSpPr>
          <p:cNvPr id="51" name="Rectangle 50"/>
          <p:cNvSpPr/>
          <p:nvPr/>
        </p:nvSpPr>
        <p:spPr>
          <a:xfrm>
            <a:off x="1964268" y="2620242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40436" y="2620242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13761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79322" y="2620242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3860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520028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793353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058914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463791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739959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013284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278845" y="262024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969577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245745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519070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784631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243860" y="284388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520028" y="284388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793353" y="284388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058914" y="284388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453004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729172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002497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268058" y="284768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968026" y="3075368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244194" y="3075368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2517519" y="3075368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2783080" y="3075368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243860" y="3075368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520028" y="3075368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793353" y="3075368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848152" y="612486"/>
            <a:ext cx="17908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Detectors/Channels status</a:t>
            </a:r>
            <a:endParaRPr lang="en-GB" sz="1100" b="1" dirty="0"/>
          </a:p>
        </p:txBody>
      </p:sp>
      <p:sp>
        <p:nvSpPr>
          <p:cNvPr id="96" name="Rectangle 95"/>
          <p:cNvSpPr/>
          <p:nvPr/>
        </p:nvSpPr>
        <p:spPr>
          <a:xfrm>
            <a:off x="1945447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21615" y="86798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94940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60501" y="86798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25039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3501207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774532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4040093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444970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721138" y="86798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994463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260024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950756" y="109543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2226924" y="1095430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00249" y="109543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2765810" y="109543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3225039" y="109162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501207" y="1091626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774532" y="109162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4040093" y="109162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4434183" y="109543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4710351" y="109543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4983676" y="109543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249237" y="109543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949205" y="13231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2225373" y="13231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2498698" y="13231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2764259" y="13231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3225039" y="13231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3501207" y="13231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3774532" y="1323109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31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038584" y="13231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4440546" y="132253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4716714" y="132253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4990039" y="132253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5254091" y="132253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940360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2216528" y="1564174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38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2489853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2755414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19952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496120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3769445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4035006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4439883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4716051" y="1564174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46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4989376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5254937" y="156417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1945669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2221837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495162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2760723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3219952" y="17878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3496120" y="17878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769445" y="17878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4035006" y="17878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4429096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4705264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4978589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5244150" y="17916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944118" y="2019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2220286" y="2019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2493611" y="2019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2759172" y="20193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pic>
        <p:nvPicPr>
          <p:cNvPr id="160" name="Picture 2" descr="C:\Users\iabdelhalim\Desktop\TRL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00" y="96261"/>
            <a:ext cx="710201" cy="34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Rectangle 160"/>
          <p:cNvSpPr/>
          <p:nvPr/>
        </p:nvSpPr>
        <p:spPr>
          <a:xfrm>
            <a:off x="2514599" y="12528"/>
            <a:ext cx="3581401" cy="444672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5666003" y="87742"/>
            <a:ext cx="381000" cy="3048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3" name="Straight Connector 162"/>
          <p:cNvCxnSpPr/>
          <p:nvPr/>
        </p:nvCxnSpPr>
        <p:spPr>
          <a:xfrm>
            <a:off x="5666003" y="193958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>
            <a:off x="5679863" y="290942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3276600" y="50198"/>
            <a:ext cx="1316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Online Data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66" name="Straight Connector 165"/>
          <p:cNvCxnSpPr/>
          <p:nvPr/>
        </p:nvCxnSpPr>
        <p:spPr>
          <a:xfrm flipH="1">
            <a:off x="1752600" y="457200"/>
            <a:ext cx="76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sp>
        <p:nvSpPr>
          <p:cNvPr id="168" name="TextBox 167"/>
          <p:cNvSpPr txBox="1"/>
          <p:nvPr/>
        </p:nvSpPr>
        <p:spPr>
          <a:xfrm>
            <a:off x="1775868" y="6331328"/>
            <a:ext cx="20938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MOVA Time</a:t>
            </a:r>
            <a:r>
              <a:rPr lang="en-US" sz="1000" dirty="0" smtClean="0"/>
              <a:t>: </a:t>
            </a:r>
            <a:r>
              <a:rPr lang="en-US" sz="1000" dirty="0" smtClean="0">
                <a:solidFill>
                  <a:srgbClr val="FF0000"/>
                </a:solidFill>
              </a:rPr>
              <a:t>18:09:15    12/04/2016</a:t>
            </a:r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431148" y="6322091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Kernel Version</a:t>
            </a:r>
            <a:r>
              <a:rPr lang="en-US" sz="1000" dirty="0" smtClean="0"/>
              <a:t>: M8.0.0.166</a:t>
            </a:r>
            <a:endParaRPr lang="en-GB" sz="1000" dirty="0"/>
          </a:p>
        </p:txBody>
      </p:sp>
      <p:sp>
        <p:nvSpPr>
          <p:cNvPr id="170" name="Rectangular Callout 169"/>
          <p:cNvSpPr/>
          <p:nvPr/>
        </p:nvSpPr>
        <p:spPr>
          <a:xfrm>
            <a:off x="6324600" y="419530"/>
            <a:ext cx="685800" cy="308503"/>
          </a:xfrm>
          <a:prstGeom prst="wedgeRectCallout">
            <a:avLst>
              <a:gd name="adj1" fmla="val -176831"/>
              <a:gd name="adj2" fmla="val 13035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Bold font</a:t>
            </a: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71" name="Rectangular Callout 170"/>
          <p:cNvSpPr/>
          <p:nvPr/>
        </p:nvSpPr>
        <p:spPr>
          <a:xfrm>
            <a:off x="6823364" y="1415136"/>
            <a:ext cx="1330036" cy="566985"/>
          </a:xfrm>
          <a:prstGeom prst="wedgeRectCallout">
            <a:avLst>
              <a:gd name="adj1" fmla="val -121184"/>
              <a:gd name="adj2" fmla="val 9121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To be updated once every 1 second.</a:t>
            </a:r>
          </a:p>
          <a:p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72" name="Rectangular Callout 171"/>
          <p:cNvSpPr/>
          <p:nvPr/>
        </p:nvSpPr>
        <p:spPr>
          <a:xfrm>
            <a:off x="235721" y="4876800"/>
            <a:ext cx="1330036" cy="1104294"/>
          </a:xfrm>
          <a:prstGeom prst="wedgeRectCallout">
            <a:avLst>
              <a:gd name="adj1" fmla="val 148676"/>
              <a:gd name="adj2" fmla="val 8947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Turn to </a:t>
            </a:r>
            <a:r>
              <a:rPr lang="en-GB" sz="1050" dirty="0" smtClean="0">
                <a:solidFill>
                  <a:srgbClr val="FF0000"/>
                </a:solidFill>
              </a:rPr>
              <a:t>red</a:t>
            </a:r>
            <a:r>
              <a:rPr lang="en-GB" sz="1050" dirty="0" smtClean="0">
                <a:solidFill>
                  <a:schemeClr val="tx1"/>
                </a:solidFill>
              </a:rPr>
              <a:t> if the difference between MOVA Time and the system time exceed certain threshold.</a:t>
            </a:r>
            <a:endParaRPr lang="en-GB" sz="1050" dirty="0" smtClean="0">
              <a:solidFill>
                <a:schemeClr val="tx1"/>
              </a:solidFill>
            </a:endParaRPr>
          </a:p>
          <a:p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58968" y="5105400"/>
            <a:ext cx="29113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smtClean="0">
                <a:solidFill>
                  <a:srgbClr val="FF0000"/>
                </a:solidFill>
              </a:rPr>
              <a:t>Warning</a:t>
            </a:r>
            <a:r>
              <a:rPr lang="en-GB" sz="1100" dirty="0" smtClean="0"/>
              <a:t>: connection to controller has been lost</a:t>
            </a:r>
            <a:endParaRPr lang="en-GB" sz="1100" dirty="0"/>
          </a:p>
        </p:txBody>
      </p:sp>
      <p:sp>
        <p:nvSpPr>
          <p:cNvPr id="173" name="Rectangular Callout 172"/>
          <p:cNvSpPr/>
          <p:nvPr/>
        </p:nvSpPr>
        <p:spPr>
          <a:xfrm>
            <a:off x="6975764" y="4876800"/>
            <a:ext cx="1330036" cy="1568401"/>
          </a:xfrm>
          <a:prstGeom prst="wedgeRectCallout">
            <a:avLst>
              <a:gd name="adj1" fmla="val -176441"/>
              <a:gd name="adj2" fmla="val -2646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This warning shall appear to inform the user that the connection has been lost and thus the flags status don’t represent the current status at the controller.</a:t>
            </a:r>
            <a:endParaRPr lang="en-GB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677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09600"/>
            <a:ext cx="876300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04800" y="228600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Desktop view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04799" y="2929784"/>
            <a:ext cx="7785371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04800" y="2548784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Tablet view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04800" y="5257800"/>
            <a:ext cx="4106715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04800" y="4919530"/>
            <a:ext cx="2209800" cy="317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Smart phone view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419954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122" y="86798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447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5008" y="86798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9546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75714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49039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14600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19477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195645" y="86798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68970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734531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16479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92647" y="86798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5972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931533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90762" y="8641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6930" y="864179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0255" y="8641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05816" y="8641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99906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76074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49399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414960" y="8679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877041" y="8641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153209" y="8641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426534" y="8641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692095" y="8641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25473" y="114888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01641" y="114888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74966" y="1148881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9018" y="114888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700802" y="11483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976970" y="11483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250295" y="11483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514347" y="11483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911423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187591" y="1150421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38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460916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726477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101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390269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663594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929155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10946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687114" y="1150421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46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960439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226000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592583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868751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42076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407637" y="1150421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866866" y="11466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143034" y="11466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6359" y="11466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681920" y="114661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23964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00132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73457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239018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686456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962624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235949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501510" y="142875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12630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8798" y="3276600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2123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27684" y="3276600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92222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968390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241715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2507276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2912153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188321" y="3276600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61646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727207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109155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385323" y="3276600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58648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4924209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383438" y="327279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5659606" y="3272796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32931" y="327279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198492" y="327279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592582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6868750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142075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7407636" y="3276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12629" y="35814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688797" y="35814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962122" y="35814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227683" y="35814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694809" y="35835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970977" y="35835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2244302" y="3583579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31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508354" y="358357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908137" y="358300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3184305" y="358300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3457630" y="358300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721682" y="358300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4120937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4397105" y="3585119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38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4670430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4935991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40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383437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659605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5932930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198491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6599906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876074" y="3585119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46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7149399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414960" y="358511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412628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688796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62121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227682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1700802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976970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50295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2515856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2896314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3172482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3445807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711368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4135347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4411515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4684840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4950401" y="384418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424787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00955" y="5404766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74280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239841" y="5404766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704379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980547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2253872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2519433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2924310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3200478" y="5404766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473803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3739364" y="5404766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430096" y="563221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706264" y="5632213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79589" y="563221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1245150" y="563221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1704379" y="56284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1980547" y="5628409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253872" y="56284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19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2519433" y="5628409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2913523" y="563221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3189691" y="563221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3463016" y="563221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3728577" y="563221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428545" y="585989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704713" y="585989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978038" y="585989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243599" y="585989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1704379" y="585989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29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980547" y="585989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2253872" y="5859892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2"/>
                </a:solidFill>
              </a:rPr>
              <a:t>31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517924" y="5859892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2919886" y="585931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3196054" y="585931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3469379" y="585931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3733431" y="5859315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419700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695868" y="6100957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38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969193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39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234754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40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699292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1975460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2248785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2514346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2919223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3195391" y="6100957"/>
            <a:ext cx="223305" cy="190500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chemeClr val="tx2"/>
                </a:solidFill>
              </a:rPr>
              <a:t>46</a:t>
            </a:r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3468716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3734277" y="6100957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425009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49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701177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74502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1240063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1699292" y="6324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1975460" y="6324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rgbClr val="FFFF00"/>
                </a:solidFill>
              </a:rPr>
              <a:t>54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248785" y="6324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55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2514346" y="6324600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56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2908436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57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3184604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58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3457929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59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3723490" y="6328404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60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423458" y="65560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61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699626" y="65560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62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972951" y="65560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63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1238512" y="6556083"/>
            <a:ext cx="223305" cy="190500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 smtClean="0">
                <a:solidFill>
                  <a:srgbClr val="FFFF00"/>
                </a:solidFill>
              </a:rPr>
              <a:t>64</a:t>
            </a:r>
            <a:endParaRPr lang="en-GB" sz="1000" b="1" dirty="0">
              <a:solidFill>
                <a:srgbClr val="FFFF00"/>
              </a:solidFill>
            </a:endParaRPr>
          </a:p>
        </p:txBody>
      </p:sp>
      <p:sp>
        <p:nvSpPr>
          <p:cNvPr id="206" name="Rectangular Callout 205"/>
          <p:cNvSpPr/>
          <p:nvPr/>
        </p:nvSpPr>
        <p:spPr>
          <a:xfrm>
            <a:off x="6634695" y="5222584"/>
            <a:ext cx="2057400" cy="1523999"/>
          </a:xfrm>
          <a:prstGeom prst="wedgeRectCallout">
            <a:avLst>
              <a:gd name="adj1" fmla="val -92410"/>
              <a:gd name="adj2" fmla="val -6010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As part of the responsive design, the detectors and confirm/force bits organisation should differ based on the screen width; however, maintaining the grouping in 4.</a:t>
            </a:r>
            <a:endParaRPr lang="en-GB" sz="1050" dirty="0" smtClean="0">
              <a:solidFill>
                <a:schemeClr val="tx1"/>
              </a:solidFill>
            </a:endParaRPr>
          </a:p>
          <a:p>
            <a:endParaRPr lang="en-GB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11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694401"/>
              </p:ext>
            </p:extLst>
          </p:nvPr>
        </p:nvGraphicFramePr>
        <p:xfrm>
          <a:off x="1933681" y="637308"/>
          <a:ext cx="4113322" cy="993372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1190519"/>
                <a:gridCol w="2922803"/>
              </a:tblGrid>
              <a:tr h="277092">
                <a:tc>
                  <a:txBody>
                    <a:bodyPr/>
                    <a:lstStyle/>
                    <a:p>
                      <a:pPr lvl="0"/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2016-04-14 12:34:56</a:t>
                      </a:r>
                      <a:endParaRPr lang="en-GB" sz="10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DATA #1; ERROR ON RE-LOADING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2016-04-14 18:36:56</a:t>
                      </a:r>
                      <a:endParaRPr lang="en-GB" sz="1000" dirty="0" smtClean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CHECKSUM ERROR ON RE-LOADING SITE DATA 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2016-04-14 21:36:42</a:t>
                      </a:r>
                      <a:endParaRPr lang="en-GB" sz="1000" dirty="0" smtClean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MULTIPLE STAGE CONFIRMATIONS - MOVA STOPPED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2016-04-14 21:45:50</a:t>
                      </a:r>
                      <a:endParaRPr lang="en-GB" sz="1000" dirty="0" smtClean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DATA #1; ERROR ON RE-LOADING </a:t>
                      </a: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61" name="Rounded Rectangle 160"/>
          <p:cNvSpPr/>
          <p:nvPr/>
        </p:nvSpPr>
        <p:spPr>
          <a:xfrm>
            <a:off x="3335211" y="1905000"/>
            <a:ext cx="1056240" cy="3048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tx2"/>
                </a:solidFill>
              </a:rPr>
              <a:t>Refresh</a:t>
            </a:r>
            <a:endParaRPr lang="en-GB" sz="1200" dirty="0">
              <a:solidFill>
                <a:schemeClr val="tx2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752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C:\Users\iabdelhalim\Desktop\TRL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00" y="96261"/>
            <a:ext cx="710201" cy="34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2514599" y="12528"/>
            <a:ext cx="3581401" cy="444672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sp>
        <p:nvSpPr>
          <p:cNvPr id="33" name="Rectangle 32"/>
          <p:cNvSpPr/>
          <p:nvPr/>
        </p:nvSpPr>
        <p:spPr>
          <a:xfrm>
            <a:off x="5666003" y="87742"/>
            <a:ext cx="381000" cy="3048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5666003" y="193958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679863" y="290942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582868" y="50198"/>
            <a:ext cx="751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Errors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 flipH="1">
            <a:off x="1752600" y="457200"/>
            <a:ext cx="76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775868" y="6331328"/>
            <a:ext cx="20938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MOVA Time</a:t>
            </a:r>
            <a:r>
              <a:rPr lang="en-US" sz="1000" dirty="0" smtClean="0"/>
              <a:t>: </a:t>
            </a:r>
            <a:r>
              <a:rPr lang="en-US" sz="1000" dirty="0" smtClean="0">
                <a:solidFill>
                  <a:srgbClr val="FF0000"/>
                </a:solidFill>
              </a:rPr>
              <a:t>18:09:15    12/04/2016</a:t>
            </a:r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31148" y="6322091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Kernel Version</a:t>
            </a:r>
            <a:r>
              <a:rPr lang="en-US" sz="1000" dirty="0" smtClean="0"/>
              <a:t>: M8.0.0.166</a:t>
            </a:r>
            <a:endParaRPr lang="en-GB" sz="1000" dirty="0"/>
          </a:p>
        </p:txBody>
      </p:sp>
      <p:sp>
        <p:nvSpPr>
          <p:cNvPr id="17" name="Rectangular Callout 16"/>
          <p:cNvSpPr/>
          <p:nvPr/>
        </p:nvSpPr>
        <p:spPr>
          <a:xfrm>
            <a:off x="47002" y="2508191"/>
            <a:ext cx="1524000" cy="1149409"/>
          </a:xfrm>
          <a:prstGeom prst="wedgeRectCallout">
            <a:avLst>
              <a:gd name="adj1" fmla="val 76645"/>
              <a:gd name="adj2" fmla="val -14331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In order to show the error messages in this format, a slight modification should be done in the kernel.</a:t>
            </a: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8" name="Rectangular Callout 17"/>
          <p:cNvSpPr/>
          <p:nvPr/>
        </p:nvSpPr>
        <p:spPr>
          <a:xfrm>
            <a:off x="54123" y="234864"/>
            <a:ext cx="1524000" cy="983062"/>
          </a:xfrm>
          <a:prstGeom prst="wedgeRectCallout">
            <a:avLst>
              <a:gd name="adj1" fmla="val 76645"/>
              <a:gd name="adj2" fmla="val -205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/>
                </a:solidFill>
              </a:rPr>
              <a:t>Internationalisation for the date format should be supported.</a:t>
            </a:r>
            <a:endParaRPr lang="en-GB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83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532495"/>
              </p:ext>
            </p:extLst>
          </p:nvPr>
        </p:nvGraphicFramePr>
        <p:xfrm>
          <a:off x="1905000" y="609600"/>
          <a:ext cx="3994730" cy="165100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838200"/>
                <a:gridCol w="3156530"/>
              </a:tblGrid>
              <a:tr h="203200">
                <a:tc>
                  <a:txBody>
                    <a:bodyPr/>
                    <a:lstStyle/>
                    <a:p>
                      <a:pPr lvl="0"/>
                      <a:r>
                        <a:rPr lang="en-GB" sz="1000" b="1" dirty="0" smtClean="0"/>
                        <a:t>Site</a:t>
                      </a:r>
                      <a:r>
                        <a:rPr lang="en-GB" sz="1000" b="1" baseline="0" dirty="0" smtClean="0"/>
                        <a:t> name</a:t>
                      </a:r>
                      <a:endParaRPr lang="en-GB" sz="1000" b="1" dirty="0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000" dirty="0" smtClean="0"/>
                        <a:t> Sim_EG_T1_C1</a:t>
                      </a:r>
                      <a:endParaRPr lang="en-GB" sz="1000" dirty="0"/>
                    </a:p>
                  </a:txBody>
                  <a:tcPr marL="46800" marR="0" marT="0" marB="0" anchor="ctr"/>
                </a:tc>
              </a:tr>
              <a:tr h="264160">
                <a:tc>
                  <a:txBody>
                    <a:bodyPr/>
                    <a:lstStyle/>
                    <a:p>
                      <a:pPr lvl="0"/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GB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I- Junction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/>
                </a:tc>
              </a:tr>
              <a:tr h="269240">
                <a:tc>
                  <a:txBody>
                    <a:bodyPr/>
                    <a:lstStyle/>
                    <a:p>
                      <a:pPr lvl="0"/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en-GB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 8.0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/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Created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10:08 15/07/2015</a:t>
                      </a:r>
                    </a:p>
                  </a:txBody>
                  <a:tcPr marL="46800" marR="0" marT="0" marB="0" anchor="ctr"/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STAGES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46800" marR="0" marT="0" marB="0" anchor="ctr"/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NLANES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46800" marR="0" marT="0" marB="0" anchor="ctr"/>
                </a:tc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46800" marR="0" marT="0" marB="0" anchor="ctr"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17095"/>
              </p:ext>
            </p:extLst>
          </p:nvPr>
        </p:nvGraphicFramePr>
        <p:xfrm>
          <a:off x="1905000" y="2461239"/>
          <a:ext cx="3994730" cy="140208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951181"/>
                <a:gridCol w="531091"/>
                <a:gridCol w="554182"/>
                <a:gridCol w="637309"/>
                <a:gridCol w="591127"/>
                <a:gridCol w="729840"/>
              </a:tblGrid>
              <a:tr h="304800">
                <a:tc gridSpan="6">
                  <a:txBody>
                    <a:bodyPr/>
                    <a:lstStyle/>
                    <a:p>
                      <a:pPr lvl="0"/>
                      <a:r>
                        <a:rPr lang="en-GB" sz="1000" b="1" dirty="0" smtClean="0"/>
                        <a:t>LGREEN</a:t>
                      </a:r>
                      <a:endParaRPr lang="en-GB" sz="1000" b="1" dirty="0"/>
                    </a:p>
                  </a:txBody>
                  <a:tcPr marL="72000" marR="0" marT="0" marB="0" anchor="ctr"/>
                </a:tc>
                <a:tc hMerge="1">
                  <a:txBody>
                    <a:bodyPr/>
                    <a:lstStyle/>
                    <a:p>
                      <a:pPr lvl="0"/>
                      <a:endParaRPr lang="en-GB" sz="1000" dirty="0"/>
                    </a:p>
                  </a:txBody>
                  <a:tcPr marL="46800" marR="0" marT="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lvl="0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Stage           Link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BlToT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GB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416466"/>
              </p:ext>
            </p:extLst>
          </p:nvPr>
        </p:nvGraphicFramePr>
        <p:xfrm>
          <a:off x="1944419" y="4290039"/>
          <a:ext cx="3994730" cy="24384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838200"/>
                <a:gridCol w="3156530"/>
              </a:tblGrid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46800" marR="0" marT="0" marB="0" anchor="ctr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52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2" descr="C:\Users\iabdelhalim\Desktop\TRL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00" y="96261"/>
            <a:ext cx="710201" cy="34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/>
          <p:cNvSpPr/>
          <p:nvPr/>
        </p:nvSpPr>
        <p:spPr>
          <a:xfrm>
            <a:off x="2514599" y="12528"/>
            <a:ext cx="3581401" cy="444672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sp>
        <p:nvSpPr>
          <p:cNvPr id="38" name="Rectangle 37"/>
          <p:cNvSpPr/>
          <p:nvPr/>
        </p:nvSpPr>
        <p:spPr>
          <a:xfrm>
            <a:off x="5666003" y="87742"/>
            <a:ext cx="381000" cy="3048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/>
          <p:nvPr/>
        </p:nvCxnSpPr>
        <p:spPr>
          <a:xfrm>
            <a:off x="5666003" y="193958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679863" y="290942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58128" y="68670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Active </a:t>
            </a:r>
            <a:r>
              <a:rPr lang="en-GB" b="1" dirty="0">
                <a:solidFill>
                  <a:schemeClr val="bg1"/>
                </a:solidFill>
              </a:rPr>
              <a:t>D</a:t>
            </a:r>
            <a:r>
              <a:rPr lang="en-GB" b="1" dirty="0" smtClean="0">
                <a:solidFill>
                  <a:schemeClr val="bg1"/>
                </a:solidFill>
              </a:rPr>
              <a:t>ata Set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 flipH="1">
            <a:off x="1752600" y="457200"/>
            <a:ext cx="76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775868" y="6331328"/>
            <a:ext cx="20938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MOVA Time</a:t>
            </a:r>
            <a:r>
              <a:rPr lang="en-US" sz="1000" dirty="0" smtClean="0"/>
              <a:t>: </a:t>
            </a:r>
            <a:r>
              <a:rPr lang="en-US" sz="1000" dirty="0" smtClean="0">
                <a:solidFill>
                  <a:srgbClr val="FF0000"/>
                </a:solidFill>
              </a:rPr>
              <a:t>18:09:15    12/04/2016</a:t>
            </a:r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431148" y="6322091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Kernel Version</a:t>
            </a:r>
            <a:r>
              <a:rPr lang="en-US" sz="1000" dirty="0" smtClean="0"/>
              <a:t>: M8.0.0.166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59292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85844" y="793173"/>
            <a:ext cx="2626442" cy="3810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tx2"/>
                </a:solidFill>
              </a:rPr>
              <a:t>Download TMA logs data file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752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C:\Users\iabdelhalim\Desktop\TRL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00" y="96261"/>
            <a:ext cx="710201" cy="34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/>
          <p:cNvSpPr/>
          <p:nvPr/>
        </p:nvSpPr>
        <p:spPr>
          <a:xfrm>
            <a:off x="2514599" y="12528"/>
            <a:ext cx="3581401" cy="444672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sp>
        <p:nvSpPr>
          <p:cNvPr id="37" name="Rectangle 36"/>
          <p:cNvSpPr/>
          <p:nvPr/>
        </p:nvSpPr>
        <p:spPr>
          <a:xfrm>
            <a:off x="5666003" y="87742"/>
            <a:ext cx="381000" cy="3048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Connector 37"/>
          <p:cNvCxnSpPr/>
          <p:nvPr/>
        </p:nvCxnSpPr>
        <p:spPr>
          <a:xfrm>
            <a:off x="5666003" y="193958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679863" y="290942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15140" y="50198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TMA Logs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1752600" y="457200"/>
            <a:ext cx="76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775868" y="6331328"/>
            <a:ext cx="20938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MOVA Time</a:t>
            </a:r>
            <a:r>
              <a:rPr lang="en-US" sz="1000" dirty="0" smtClean="0"/>
              <a:t>: </a:t>
            </a:r>
            <a:r>
              <a:rPr lang="en-US" sz="1000" dirty="0" smtClean="0">
                <a:solidFill>
                  <a:srgbClr val="FF0000"/>
                </a:solidFill>
              </a:rPr>
              <a:t>18:09:15    12/04/2016</a:t>
            </a:r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31148" y="6322091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Kernel Version</a:t>
            </a:r>
            <a:r>
              <a:rPr lang="en-US" sz="1000" dirty="0" smtClean="0"/>
              <a:t>: M8.0.0.166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4983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2622206" y="5791200"/>
            <a:ext cx="2626443" cy="3810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tx2"/>
                </a:solidFill>
              </a:rPr>
              <a:t>Download </a:t>
            </a:r>
            <a:r>
              <a:rPr lang="en-GB" sz="1200" dirty="0" err="1" smtClean="0">
                <a:solidFill>
                  <a:schemeClr val="tx2"/>
                </a:solidFill>
              </a:rPr>
              <a:t>SatFlow</a:t>
            </a:r>
            <a:r>
              <a:rPr lang="en-GB" sz="1200" dirty="0" smtClean="0">
                <a:solidFill>
                  <a:schemeClr val="tx2"/>
                </a:solidFill>
              </a:rPr>
              <a:t> logs data file</a:t>
            </a:r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752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C:\Users\iabdelhalim\Desktop\TRL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00" y="96261"/>
            <a:ext cx="710201" cy="34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/>
          <p:cNvSpPr/>
          <p:nvPr/>
        </p:nvSpPr>
        <p:spPr>
          <a:xfrm>
            <a:off x="2514599" y="12528"/>
            <a:ext cx="3581401" cy="444672"/>
          </a:xfrm>
          <a:prstGeom prst="rect">
            <a:avLst/>
          </a:prstGeom>
          <a:solidFill>
            <a:schemeClr val="tx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74081" y="6556146"/>
            <a:ext cx="17139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© Copyright 2016 TRL. All rights reserved.</a:t>
            </a:r>
            <a:endParaRPr lang="en-GB" sz="700" dirty="0"/>
          </a:p>
        </p:txBody>
      </p:sp>
      <p:sp>
        <p:nvSpPr>
          <p:cNvPr id="37" name="Rectangle 36"/>
          <p:cNvSpPr/>
          <p:nvPr/>
        </p:nvSpPr>
        <p:spPr>
          <a:xfrm>
            <a:off x="5666003" y="87742"/>
            <a:ext cx="381000" cy="3048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Connector 37"/>
          <p:cNvCxnSpPr/>
          <p:nvPr/>
        </p:nvCxnSpPr>
        <p:spPr>
          <a:xfrm>
            <a:off x="5666003" y="193958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679863" y="290942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13544" y="50198"/>
            <a:ext cx="141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 smtClean="0">
                <a:solidFill>
                  <a:schemeClr val="bg1"/>
                </a:solidFill>
              </a:rPr>
              <a:t>SatFlow</a:t>
            </a:r>
            <a:r>
              <a:rPr lang="en-GB" b="1" dirty="0" smtClean="0">
                <a:solidFill>
                  <a:schemeClr val="bg1"/>
                </a:solidFill>
              </a:rPr>
              <a:t> Logs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1752600" y="457200"/>
            <a:ext cx="76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775868" y="6331328"/>
            <a:ext cx="20938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MOVA Time</a:t>
            </a:r>
            <a:r>
              <a:rPr lang="en-US" sz="1000" dirty="0" smtClean="0"/>
              <a:t>: </a:t>
            </a:r>
            <a:r>
              <a:rPr lang="en-US" sz="1000" dirty="0" smtClean="0">
                <a:solidFill>
                  <a:srgbClr val="FF0000"/>
                </a:solidFill>
              </a:rPr>
              <a:t>18:09:15    12/04/2016</a:t>
            </a:r>
            <a:endParaRPr lang="en-GB" sz="10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31148" y="6322091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Kernel Version</a:t>
            </a:r>
            <a:r>
              <a:rPr lang="en-US" sz="1000" dirty="0" smtClean="0"/>
              <a:t>: M8.0.0.166</a:t>
            </a:r>
            <a:endParaRPr lang="en-GB" sz="10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298641"/>
              </p:ext>
            </p:extLst>
          </p:nvPr>
        </p:nvGraphicFramePr>
        <p:xfrm>
          <a:off x="1905000" y="609600"/>
          <a:ext cx="3994730" cy="211328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838200"/>
                <a:gridCol w="914400"/>
                <a:gridCol w="381000"/>
                <a:gridCol w="381000"/>
                <a:gridCol w="381000"/>
                <a:gridCol w="533400"/>
                <a:gridCol w="565730"/>
              </a:tblGrid>
              <a:tr h="203200">
                <a:tc gridSpan="7">
                  <a:txBody>
                    <a:bodyPr/>
                    <a:lstStyle/>
                    <a:p>
                      <a:pPr lvl="0"/>
                      <a:r>
                        <a:rPr lang="en-GB" sz="1000" b="1" dirty="0" smtClean="0"/>
                        <a:t>Saturation</a:t>
                      </a:r>
                      <a:r>
                        <a:rPr lang="en-GB" sz="1000" b="1" baseline="0" dirty="0" smtClean="0"/>
                        <a:t> flow</a:t>
                      </a:r>
                      <a:endParaRPr lang="en-GB" sz="1000" dirty="0"/>
                    </a:p>
                  </a:txBody>
                  <a:tcPr marL="72000" marR="0" marT="0" marB="0" anchor="ctr"/>
                </a:tc>
                <a:tc hMerge="1">
                  <a:txBody>
                    <a:bodyPr/>
                    <a:lstStyle/>
                    <a:p>
                      <a:pPr lvl="0"/>
                      <a:endParaRPr lang="en-GB" sz="1000" dirty="0"/>
                    </a:p>
                  </a:txBody>
                  <a:tcPr marL="46800" marR="0" marT="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264160">
                <a:tc gridSpan="2">
                  <a:txBody>
                    <a:bodyPr/>
                    <a:lstStyle/>
                    <a:p>
                      <a:pPr lvl="0" algn="ctr"/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Lane</a:t>
                      </a:r>
                      <a:endParaRPr lang="en-GB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vl="0" algn="ctr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lvl="0"/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  <a:endParaRPr lang="en-GB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07:30 – 09:30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16:30 – 18:30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09:30 – 13:00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13:00 – 22:00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Saturday</a:t>
                      </a: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09:00 – 18:00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Sunday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10:00 – 17:00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67975"/>
              </p:ext>
            </p:extLst>
          </p:nvPr>
        </p:nvGraphicFramePr>
        <p:xfrm>
          <a:off x="1933681" y="3048000"/>
          <a:ext cx="3994730" cy="215392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838200"/>
                <a:gridCol w="914400"/>
                <a:gridCol w="381000"/>
                <a:gridCol w="504719"/>
                <a:gridCol w="609600"/>
                <a:gridCol w="457200"/>
                <a:gridCol w="289611"/>
              </a:tblGrid>
              <a:tr h="203200">
                <a:tc gridSpan="7">
                  <a:txBody>
                    <a:bodyPr/>
                    <a:lstStyle/>
                    <a:p>
                      <a:pPr lvl="0"/>
                      <a:r>
                        <a:rPr lang="en-GB" sz="1000" b="1" dirty="0" smtClean="0"/>
                        <a:t>Saturation</a:t>
                      </a:r>
                      <a:r>
                        <a:rPr lang="en-GB" sz="1000" b="1" baseline="0" dirty="0" smtClean="0"/>
                        <a:t> flow (Verbose)</a:t>
                      </a:r>
                      <a:endParaRPr lang="en-GB" sz="1000" dirty="0"/>
                    </a:p>
                  </a:txBody>
                  <a:tcPr marL="72000" marR="0" marT="0" marB="0" anchor="ctr"/>
                </a:tc>
                <a:tc hMerge="1">
                  <a:txBody>
                    <a:bodyPr/>
                    <a:lstStyle/>
                    <a:p>
                      <a:pPr lvl="0"/>
                      <a:endParaRPr lang="en-GB" sz="1000" dirty="0"/>
                    </a:p>
                  </a:txBody>
                  <a:tcPr marL="46800" marR="0" marT="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264160">
                <a:tc gridSpan="2">
                  <a:txBody>
                    <a:bodyPr/>
                    <a:lstStyle/>
                    <a:p>
                      <a:pPr lvl="0" algn="ctr"/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Lane 1</a:t>
                      </a:r>
                      <a:endParaRPr lang="en-GB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vl="0" algn="ctr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SF</a:t>
                      </a:r>
                      <a:r>
                        <a:rPr lang="en-GB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ESV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SATINC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 Value Measured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lvl="0"/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  <a:endParaRPr lang="en-GB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07:30 – 09:30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16:30 – 18:30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09:30 – 13:00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Weekday</a:t>
                      </a: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13:00 – 22:00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Saturday</a:t>
                      </a: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09:00 – 18:00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Sunday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10:00 – 17:00</a:t>
                      </a:r>
                    </a:p>
                  </a:txBody>
                  <a:tcPr marL="468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169570"/>
              </p:ext>
            </p:extLst>
          </p:nvPr>
        </p:nvGraphicFramePr>
        <p:xfrm>
          <a:off x="1912578" y="5334000"/>
          <a:ext cx="3994730" cy="24384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838200"/>
                <a:gridCol w="3156530"/>
              </a:tblGrid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4680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46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RL Document" ma:contentTypeID="0x010100C066D319429AF044847D19720F6359FF00EA0646C4F9EE814F99416DE85E274AB7" ma:contentTypeVersion="0" ma:contentTypeDescription="Parent of all TRL document types" ma:contentTypeScope="" ma:versionID="76819f94132ccf1a1ffab621a1b6e535">
  <xsd:schema xmlns:xsd="http://www.w3.org/2001/XMLSchema" xmlns:xs="http://www.w3.org/2001/XMLSchema" xmlns:p="http://schemas.microsoft.com/office/2006/metadata/properties" xmlns:ns2="f7f254ca-1220-4802-98f8-e40fcc5ab155" targetNamespace="http://schemas.microsoft.com/office/2006/metadata/properties" ma:root="true" ma:fieldsID="513e2e39f0a706a8ce0dc3ed8849bc24" ns2:_="">
    <xsd:import namespace="f7f254ca-1220-4802-98f8-e40fcc5ab15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254ca-1220-4802-98f8-e40fcc5ab15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SharedContentType xmlns="Microsoft.SharePoint.Taxonomy.ContentTypeSync" SourceId="8d1027fb-ce66-4a48-b2ff-c60241bfdc5b" ContentTypeId="0x010100C066D319429AF044847D19720F6359FF" PreviousValue="false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f7f254ca-1220-4802-98f8-e40fcc5ab155">TPT02-99-1818</_dlc_DocId>
    <_dlc_DocIdUrl xmlns="f7f254ca-1220-4802-98f8-e40fcc5ab155">
      <Url>https://sharepoint.trllimited.co.uk/projects/THT/10162/_layouts/15/DocIdRedir.aspx?ID=TPT02-99-1818</Url>
      <Description>TPT02-99-1818</Description>
    </_dlc_DocIdUrl>
  </documentManagement>
</p:properties>
</file>

<file path=customXml/itemProps1.xml><?xml version="1.0" encoding="utf-8"?>
<ds:datastoreItem xmlns:ds="http://schemas.openxmlformats.org/officeDocument/2006/customXml" ds:itemID="{B6C8F9E6-331C-4809-A84E-CEEF86094AA2}"/>
</file>

<file path=customXml/itemProps2.xml><?xml version="1.0" encoding="utf-8"?>
<ds:datastoreItem xmlns:ds="http://schemas.openxmlformats.org/officeDocument/2006/customXml" ds:itemID="{95674830-3D47-4968-957C-9AF8F20457B8}"/>
</file>

<file path=customXml/itemProps3.xml><?xml version="1.0" encoding="utf-8"?>
<ds:datastoreItem xmlns:ds="http://schemas.openxmlformats.org/officeDocument/2006/customXml" ds:itemID="{2E18BFD0-B0F5-49D2-ABA1-C2B29D4A45C2}"/>
</file>

<file path=customXml/itemProps4.xml><?xml version="1.0" encoding="utf-8"?>
<ds:datastoreItem xmlns:ds="http://schemas.openxmlformats.org/officeDocument/2006/customXml" ds:itemID="{E0A1D63E-55D5-4119-BB54-17F67DAAF2E1}"/>
</file>

<file path=customXml/itemProps5.xml><?xml version="1.0" encoding="utf-8"?>
<ds:datastoreItem xmlns:ds="http://schemas.openxmlformats.org/officeDocument/2006/customXml" ds:itemID="{745CCEE0-2AB2-4BB5-8506-011345BCD8D7}"/>
</file>

<file path=docProps/app.xml><?xml version="1.0" encoding="utf-8"?>
<Properties xmlns="http://schemas.openxmlformats.org/officeDocument/2006/extended-properties" xmlns:vt="http://schemas.openxmlformats.org/officeDocument/2006/docPropsVTypes">
  <TotalTime>3197</TotalTime>
  <Words>773</Words>
  <Application>Microsoft Office PowerPoint</Application>
  <PresentationFormat>On-screen Show (4:3)</PresentationFormat>
  <Paragraphs>452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Abdelhalim, Islam</dc:creator>
  <cp:lastModifiedBy>Abdelhalim, Islam</cp:lastModifiedBy>
  <cp:revision>56</cp:revision>
  <dcterms:created xsi:type="dcterms:W3CDTF">2006-08-16T00:00:00Z</dcterms:created>
  <dcterms:modified xsi:type="dcterms:W3CDTF">2016-04-18T09:31:52Z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0x010100C066D319429AF044847D19720F6359FF00EA0646C4F9EE814F99416DE85E274AB7</vt:lpwstr>
  </property>
  <property fmtid="{D5CDD505-2E9C-101B-9397-08002B2CF9AE}" pid="3" name="_dlc_DocIdItemGuid">
    <vt:lpwstr>eb89d60a-e5e3-472a-9e45-cc4386346da6</vt:lpwstr>
  </property>
  <property fmtid="{D5CDD505-2E9C-101B-9397-08002B2CF9AE}" pid="4" name="TaxKeyword">
    <vt:lpwstr/>
  </property>
  <property fmtid="{D5CDD505-2E9C-101B-9397-08002B2CF9AE}" pid="5" name="TaxCatchAll">
    <vt:lpwstr/>
  </property>
  <property fmtid="{D5CDD505-2E9C-101B-9397-08002B2CF9AE}" pid="6" name="TaxKeywordTaxHTField">
    <vt:lpwstr/>
  </property>
</Properties>
</file>